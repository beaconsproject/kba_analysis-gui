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CEC2"/>
    <a:srgbClr val="F6A792"/>
    <a:srgbClr val="FEEB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50" d="100"/>
          <a:sy n="50" d="100"/>
        </p:scale>
        <p:origin x="2658" y="14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C12F7-C1E1-40DA-BD4E-21B290B77B6B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095FFB-5065-4DA8-A150-07E1C3A53465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24881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FB51DF-033E-3008-2376-428399D1F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729C20E-5FEC-1B11-AD5E-E11F47E21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012D719-AB0A-9E4B-D2F0-FC644F1EA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A228-1110-4800-90EF-5C4FD8B16A5D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4ACADF-5286-EB1A-912C-BFAFEB5E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1D50C1-7659-C97A-0A00-836F5BE1A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3964F-9A9E-439A-8BFB-F8F3C8BD35CA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516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2C057C-443E-488A-2268-6ED10C242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5F28C9-4EBD-9388-2EEB-81B325B02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5B3B3C-1A88-7BA5-CCB8-11CDC97F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A228-1110-4800-90EF-5C4FD8B16A5D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899E2F-5D6F-29E0-5B02-EC466EF39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B22B711-24D2-0F4D-DE36-E7AA35C53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3964F-9A9E-439A-8BFB-F8F3C8BD35CA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6002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ECEEF4-3B67-DD32-FECA-073AF1B65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7DACE0-DEA8-A34E-FDD9-C59D6EAD7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CD6C27-820E-EC31-7C02-02B0EE34C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A228-1110-4800-90EF-5C4FD8B16A5D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54026C-C61F-13D8-31A3-E1695609D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7FA9E1-6852-E2F8-26A8-0FF13AD90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3964F-9A9E-439A-8BFB-F8F3C8BD35CA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7712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7A9DF9-4B83-B83A-50CF-BAFBE5BAD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7DFC8D-651E-2048-C36B-74ADDFA48F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3176E74-B49E-EA8E-5905-B1B2D5350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A9B81F-7E4B-699B-5AD2-3F709ECB3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A228-1110-4800-90EF-5C4FD8B16A5D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CE5DAD2-CF36-E6DC-5D92-57612D254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AE9E65B-6A11-E4E8-D70B-50044177A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3964F-9A9E-439A-8BFB-F8F3C8BD35CA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27855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A135E9-7647-8F58-D0B8-F3C7B72F1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9B7CA9-512E-3F9B-E865-95A02D802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563E8B7-0ECC-9E71-0A29-49FD1AEE1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043BA00-F9F5-909B-944E-44F1FA1187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0FC99AD-BF42-7751-50DF-B0FA10BB5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EEB3739-95D8-ED69-F945-CFBA49C0D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A228-1110-4800-90EF-5C4FD8B16A5D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297C34C-FC34-6ECA-1967-135D4BC9B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776BA8D-2011-7D0C-9B40-191B937E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3964F-9A9E-439A-8BFB-F8F3C8BD35CA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8313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5CA7E0-DA14-A4B7-270B-60BC85269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B1FC1EE-7D2B-2A1E-E18D-89D511367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A228-1110-4800-90EF-5C4FD8B16A5D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0AF9D4C-2130-B26F-B4D3-4DD9156CB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45A1C3C-D56F-B9B3-82E3-9AF5007C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3964F-9A9E-439A-8BFB-F8F3C8BD35CA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8882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FAF3A5E-E80E-946C-934B-4C82793D7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A228-1110-4800-90EF-5C4FD8B16A5D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AC37166-09BE-28C5-01AA-0BA6B2B35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1BDC9ED-57AB-D029-7A79-E998E8DD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3964F-9A9E-439A-8BFB-F8F3C8BD35CA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2960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0D7B31-6EB6-04B8-F3A7-A5CBE62A1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32C9BD-53A5-5ECE-C28F-9B2AB8EE9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55F3B60-F1E4-C535-4F07-D74F23CBC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DEB97D-B1B0-C47B-3D41-5753D2E7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A228-1110-4800-90EF-5C4FD8B16A5D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5DA8AC-89F4-39B9-71D6-00F80C725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72BCFA-8F54-A0A8-01DC-FE18369F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3964F-9A9E-439A-8BFB-F8F3C8BD35CA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32687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CBBC6-6187-4B77-1732-E0A6C2C5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0487530-6201-A766-A3E9-666E186F25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15B031-6F32-FAD8-7BF1-AFA3D846C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5B2B14-D751-0D87-12F1-874DE82C7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A228-1110-4800-90EF-5C4FD8B16A5D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5059582-F4F0-52E6-5A7A-FC482F116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62BAD6-7041-0B7D-9487-FE8BBCC2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3964F-9A9E-439A-8BFB-F8F3C8BD35CA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6506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A9EBB6-F40E-7DE7-F17D-524FF1BFB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5E3DBF-37E1-EE09-2190-7D1AC98B32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8D8980-9388-72E3-E543-6CF619CD8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A228-1110-4800-90EF-5C4FD8B16A5D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EA9750-7F94-4CB8-ECF3-7A855D673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2E96D3-649C-AB60-BA85-7A694DD5E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3964F-9A9E-439A-8BFB-F8F3C8BD35CA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079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C019AB4-5CD4-A6A8-DE88-D0514C865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A27E487-58D9-F7B2-3079-550386C42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A404F95-DEDA-8B8A-1766-DEC832B9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A228-1110-4800-90EF-5C4FD8B16A5D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0F597C-1C7A-D653-0741-423953D82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0D8522-FB15-D0D0-B726-829FE6FB5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3964F-9A9E-439A-8BFB-F8F3C8BD35CA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8914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83483F6-3195-62C7-6AF3-DD43F0E37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1B5DE8-806C-5623-28CE-1DB77EDF4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BCDD78-B811-347F-E627-A83E0E73E2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6A228-1110-4800-90EF-5C4FD8B16A5D}" type="datetimeFigureOut">
              <a:rPr lang="en-CA" smtClean="0"/>
              <a:t>2026-10-06</a:t>
            </a:fld>
            <a:endParaRPr lang="en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88BFEA-7660-ED7B-BE68-38E0BD4069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DD0640B-03E4-C008-4471-E0057DA09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B3964F-9A9E-439A-8BFB-F8F3C8BD35CA}" type="slidenum">
              <a:rPr lang="en-CA" smtClean="0"/>
              <a:t>‹N°›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4818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ABE425D4-60DE-08E6-DDE3-3451892EE4D8}"/>
              </a:ext>
            </a:extLst>
          </p:cNvPr>
          <p:cNvGrpSpPr/>
          <p:nvPr/>
        </p:nvGrpSpPr>
        <p:grpSpPr>
          <a:xfrm>
            <a:off x="-1852845" y="-1624634"/>
            <a:ext cx="13747287" cy="13231876"/>
            <a:chOff x="-1852845" y="-1624634"/>
            <a:chExt cx="13747287" cy="13231876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4AD46FC0-307D-8BFD-39D4-572E10343747}"/>
                </a:ext>
              </a:extLst>
            </p:cNvPr>
            <p:cNvSpPr/>
            <p:nvPr/>
          </p:nvSpPr>
          <p:spPr>
            <a:xfrm>
              <a:off x="-1828800" y="700270"/>
              <a:ext cx="10185244" cy="8627340"/>
            </a:xfrm>
            <a:prstGeom prst="rect">
              <a:avLst/>
            </a:prstGeom>
            <a:solidFill>
              <a:srgbClr val="FACEC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012B625D-F586-03CD-B026-2D24D4923B6D}"/>
                </a:ext>
              </a:extLst>
            </p:cNvPr>
            <p:cNvSpPr/>
            <p:nvPr/>
          </p:nvSpPr>
          <p:spPr>
            <a:xfrm>
              <a:off x="3991638" y="-1624634"/>
              <a:ext cx="2231334" cy="402487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b="1" dirty="0">
                  <a:solidFill>
                    <a:schemeClr val="tx1"/>
                  </a:solidFill>
                </a:rPr>
                <a:t>Start the app</a:t>
              </a:r>
            </a:p>
          </p:txBody>
        </p: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3792B497-C35B-FC33-B073-F7B73B432B08}"/>
                </a:ext>
              </a:extLst>
            </p:cNvPr>
            <p:cNvCxnSpPr>
              <a:cxnSpLocks/>
              <a:stCxn id="4" idx="2"/>
              <a:endCxn id="7" idx="0"/>
            </p:cNvCxnSpPr>
            <p:nvPr/>
          </p:nvCxnSpPr>
          <p:spPr>
            <a:xfrm>
              <a:off x="5107305" y="-1222147"/>
              <a:ext cx="8073" cy="310998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2D2E9968-7BA1-65E5-A550-DC20A514B02A}"/>
                </a:ext>
              </a:extLst>
            </p:cNvPr>
            <p:cNvSpPr/>
            <p:nvPr/>
          </p:nvSpPr>
          <p:spPr>
            <a:xfrm>
              <a:off x="4167708" y="-911149"/>
              <a:ext cx="1895340" cy="31716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b="1" dirty="0">
                  <a:solidFill>
                    <a:schemeClr val="tx1"/>
                  </a:solidFill>
                </a:rPr>
                <a:t>1. Set Input Parameters</a:t>
              </a:r>
            </a:p>
          </p:txBody>
        </p:sp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5E0DD7B2-3D19-A089-E3C8-8806A777BD5C}"/>
                </a:ext>
              </a:extLst>
            </p:cNvPr>
            <p:cNvSpPr/>
            <p:nvPr/>
          </p:nvSpPr>
          <p:spPr>
            <a:xfrm>
              <a:off x="4179928" y="-453025"/>
              <a:ext cx="1883120" cy="576648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Set output directory (must contain BUILDER Benchmark software)</a:t>
              </a:r>
            </a:p>
          </p:txBody>
        </p:sp>
        <p:cxnSp>
          <p:nvCxnSpPr>
            <p:cNvPr id="16" name="Connecteur : en angle 15">
              <a:extLst>
                <a:ext uri="{FF2B5EF4-FFF2-40B4-BE49-F238E27FC236}">
                  <a16:creationId xmlns:a16="http://schemas.microsoft.com/office/drawing/2014/main" id="{365E1F20-89F8-A579-9CDB-EB57FB0B06B2}"/>
                </a:ext>
              </a:extLst>
            </p:cNvPr>
            <p:cNvCxnSpPr>
              <a:cxnSpLocks/>
              <a:stCxn id="7" idx="2"/>
              <a:endCxn id="14" idx="0"/>
            </p:cNvCxnSpPr>
            <p:nvPr/>
          </p:nvCxnSpPr>
          <p:spPr>
            <a:xfrm rot="16200000" flipH="1">
              <a:off x="5047952" y="-526562"/>
              <a:ext cx="140963" cy="6110"/>
            </a:xfrm>
            <a:prstGeom prst="bentConnector3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avec flèche 25">
              <a:extLst>
                <a:ext uri="{FF2B5EF4-FFF2-40B4-BE49-F238E27FC236}">
                  <a16:creationId xmlns:a16="http://schemas.microsoft.com/office/drawing/2014/main" id="{533ACCC2-4E44-683F-D44C-75C4BA44DB1D}"/>
                </a:ext>
              </a:extLst>
            </p:cNvPr>
            <p:cNvCxnSpPr>
              <a:cxnSpLocks/>
              <a:stCxn id="14" idx="2"/>
              <a:endCxn id="5" idx="0"/>
            </p:cNvCxnSpPr>
            <p:nvPr/>
          </p:nvCxnSpPr>
          <p:spPr>
            <a:xfrm flipH="1">
              <a:off x="5111320" y="123623"/>
              <a:ext cx="10168" cy="219125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 : coins arrondis 27">
              <a:extLst>
                <a:ext uri="{FF2B5EF4-FFF2-40B4-BE49-F238E27FC236}">
                  <a16:creationId xmlns:a16="http://schemas.microsoft.com/office/drawing/2014/main" id="{5E78EDBB-8E3E-A2C4-8D82-B10D4D5F53EA}"/>
                </a:ext>
              </a:extLst>
            </p:cNvPr>
            <p:cNvSpPr/>
            <p:nvPr/>
          </p:nvSpPr>
          <p:spPr>
            <a:xfrm>
              <a:off x="930711" y="3715657"/>
              <a:ext cx="2661878" cy="33362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b="1" dirty="0">
                  <a:solidFill>
                    <a:schemeClr val="tx1"/>
                  </a:solidFill>
                </a:rPr>
                <a:t>3. OPTIONAL)  Build KBAs</a:t>
              </a:r>
            </a:p>
          </p:txBody>
        </p:sp>
        <p:sp>
          <p:nvSpPr>
            <p:cNvPr id="35" name="Rectangle : coins arrondis 34">
              <a:extLst>
                <a:ext uri="{FF2B5EF4-FFF2-40B4-BE49-F238E27FC236}">
                  <a16:creationId xmlns:a16="http://schemas.microsoft.com/office/drawing/2014/main" id="{FEA23DF0-8F53-68B0-24C7-AAF0968DECEE}"/>
                </a:ext>
              </a:extLst>
            </p:cNvPr>
            <p:cNvSpPr/>
            <p:nvPr/>
          </p:nvSpPr>
          <p:spPr>
            <a:xfrm>
              <a:off x="939178" y="4255902"/>
              <a:ext cx="2661878" cy="69950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Create Builder Input:</a:t>
              </a:r>
            </a:p>
            <a:p>
              <a:r>
                <a:rPr lang="en-CA" sz="1200" dirty="0">
                  <a:solidFill>
                    <a:schemeClr val="tx1"/>
                  </a:solidFill>
                </a:rPr>
                <a:t>- Create neighbour and </a:t>
              </a:r>
              <a:r>
                <a:rPr lang="en-CA" sz="1200" dirty="0" err="1">
                  <a:solidFill>
                    <a:schemeClr val="tx1"/>
                  </a:solidFill>
                </a:rPr>
                <a:t>seedlist</a:t>
              </a:r>
              <a:endParaRPr lang="en-CA" sz="1200" dirty="0">
                <a:solidFill>
                  <a:schemeClr val="tx1"/>
                </a:solidFill>
              </a:endParaRPr>
            </a:p>
            <a:p>
              <a:r>
                <a:rPr lang="en-CA" sz="1200" dirty="0">
                  <a:solidFill>
                    <a:schemeClr val="tx1"/>
                  </a:solidFill>
                </a:rPr>
                <a:t>- Use existing </a:t>
              </a:r>
            </a:p>
            <a:p>
              <a:pPr marL="171450" indent="-171450" algn="ctr">
                <a:buFontTx/>
                <a:buChar char="-"/>
              </a:pPr>
              <a:endParaRPr lang="en-CA" sz="1200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 : coins arrondis 35">
              <a:extLst>
                <a:ext uri="{FF2B5EF4-FFF2-40B4-BE49-F238E27FC236}">
                  <a16:creationId xmlns:a16="http://schemas.microsoft.com/office/drawing/2014/main" id="{5EFE832F-8D84-67C4-CBCB-D5A5B00AC4B1}"/>
                </a:ext>
              </a:extLst>
            </p:cNvPr>
            <p:cNvSpPr/>
            <p:nvPr/>
          </p:nvSpPr>
          <p:spPr>
            <a:xfrm>
              <a:off x="930710" y="5173256"/>
              <a:ext cx="2682000" cy="40819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200" dirty="0">
                  <a:solidFill>
                    <a:schemeClr val="tx1"/>
                  </a:solidFill>
                </a:rPr>
                <a:t>Run BUILDER and calculate DCI</a:t>
              </a:r>
            </a:p>
          </p:txBody>
        </p:sp>
        <p:sp>
          <p:nvSpPr>
            <p:cNvPr id="39" name="Rectangle : coins arrondis 38">
              <a:extLst>
                <a:ext uri="{FF2B5EF4-FFF2-40B4-BE49-F238E27FC236}">
                  <a16:creationId xmlns:a16="http://schemas.microsoft.com/office/drawing/2014/main" id="{C73094D5-625F-DB20-6379-0C233E01B023}"/>
                </a:ext>
              </a:extLst>
            </p:cNvPr>
            <p:cNvSpPr/>
            <p:nvPr/>
          </p:nvSpPr>
          <p:spPr>
            <a:xfrm>
              <a:off x="2295177" y="6646745"/>
              <a:ext cx="2995677" cy="108151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CA" sz="1200" b="1" dirty="0">
                  <a:solidFill>
                    <a:schemeClr val="tx1"/>
                  </a:solidFill>
                </a:rPr>
                <a:t>4. Assess representation</a:t>
              </a:r>
            </a:p>
            <a:p>
              <a:pPr marL="171450" indent="-171450">
                <a:buFontTx/>
                <a:buChar char="-"/>
              </a:pPr>
              <a:r>
                <a:rPr lang="en-CA" sz="1200" dirty="0">
                  <a:solidFill>
                    <a:schemeClr val="tx1"/>
                  </a:solidFill>
                </a:rPr>
                <a:t>Both KBAs and PAs: </a:t>
              </a:r>
              <a:r>
                <a:rPr lang="en-CA" sz="1200" dirty="0" err="1">
                  <a:solidFill>
                    <a:schemeClr val="tx1"/>
                  </a:solidFill>
                </a:rPr>
                <a:t>repKBAPAs</a:t>
              </a:r>
              <a:r>
                <a:rPr lang="en-CA" sz="1200" dirty="0">
                  <a:solidFill>
                    <a:schemeClr val="tx1"/>
                  </a:solidFill>
                </a:rPr>
                <a:t>_*</a:t>
              </a:r>
            </a:p>
            <a:p>
              <a:pPr marL="171450" indent="-171450">
                <a:buFontTx/>
                <a:buChar char="-"/>
              </a:pPr>
              <a:r>
                <a:rPr lang="en-CA" sz="1200" dirty="0">
                  <a:solidFill>
                    <a:schemeClr val="tx1"/>
                  </a:solidFill>
                </a:rPr>
                <a:t>Only PAs: </a:t>
              </a:r>
              <a:r>
                <a:rPr lang="en-CA" sz="1200" dirty="0" err="1">
                  <a:solidFill>
                    <a:schemeClr val="tx1"/>
                  </a:solidFill>
                </a:rPr>
                <a:t>repPAs</a:t>
              </a:r>
              <a:r>
                <a:rPr lang="en-CA" sz="1200" dirty="0">
                  <a:solidFill>
                    <a:schemeClr val="tx1"/>
                  </a:solidFill>
                </a:rPr>
                <a:t>_*</a:t>
              </a:r>
            </a:p>
            <a:p>
              <a:r>
                <a:rPr lang="en-CA" sz="1200" dirty="0">
                  <a:solidFill>
                    <a:schemeClr val="tx1"/>
                  </a:solidFill>
                </a:rPr>
                <a:t>-    Only KBAs: -</a:t>
              </a:r>
              <a:r>
                <a:rPr lang="en-CA" sz="1200" dirty="0" err="1">
                  <a:solidFill>
                    <a:schemeClr val="tx1"/>
                  </a:solidFill>
                </a:rPr>
                <a:t>repKBAs</a:t>
              </a:r>
              <a:r>
                <a:rPr lang="en-CA" sz="1200" dirty="0">
                  <a:solidFill>
                    <a:schemeClr val="tx1"/>
                  </a:solidFill>
                </a:rPr>
                <a:t>_*</a:t>
              </a:r>
            </a:p>
            <a:p>
              <a:pPr marL="171450" indent="-171450">
                <a:buFontTx/>
                <a:buChar char="-"/>
              </a:pPr>
              <a:endParaRPr lang="en-CA" sz="1200" dirty="0">
                <a:solidFill>
                  <a:schemeClr val="tx1"/>
                </a:solidFill>
              </a:endParaRPr>
            </a:p>
            <a:p>
              <a:pPr marL="171450" indent="-171450">
                <a:buFontTx/>
                <a:buChar char="-"/>
              </a:pPr>
              <a:endParaRPr lang="en-CA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42" name="Rectangle : coins arrondis 41">
              <a:extLst>
                <a:ext uri="{FF2B5EF4-FFF2-40B4-BE49-F238E27FC236}">
                  <a16:creationId xmlns:a16="http://schemas.microsoft.com/office/drawing/2014/main" id="{6808E920-2683-CC4F-D91C-984A7B695BE4}"/>
                </a:ext>
              </a:extLst>
            </p:cNvPr>
            <p:cNvSpPr/>
            <p:nvPr/>
          </p:nvSpPr>
          <p:spPr>
            <a:xfrm>
              <a:off x="-272495" y="5914035"/>
              <a:ext cx="2005913" cy="40819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(OPTIONAL)  Reduce KBAs</a:t>
              </a:r>
            </a:p>
          </p:txBody>
        </p:sp>
        <p:cxnSp>
          <p:nvCxnSpPr>
            <p:cNvPr id="46" name="Connecteur : en angle 45">
              <a:extLst>
                <a:ext uri="{FF2B5EF4-FFF2-40B4-BE49-F238E27FC236}">
                  <a16:creationId xmlns:a16="http://schemas.microsoft.com/office/drawing/2014/main" id="{B494501A-DA9E-116D-14AB-1BE822A198F9}"/>
                </a:ext>
              </a:extLst>
            </p:cNvPr>
            <p:cNvCxnSpPr>
              <a:cxnSpLocks/>
              <a:stCxn id="28" idx="2"/>
              <a:endCxn id="35" idx="0"/>
            </p:cNvCxnSpPr>
            <p:nvPr/>
          </p:nvCxnSpPr>
          <p:spPr>
            <a:xfrm rot="16200000" flipH="1">
              <a:off x="2162574" y="4148358"/>
              <a:ext cx="206619" cy="8467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cteur : en angle 47">
              <a:extLst>
                <a:ext uri="{FF2B5EF4-FFF2-40B4-BE49-F238E27FC236}">
                  <a16:creationId xmlns:a16="http://schemas.microsoft.com/office/drawing/2014/main" id="{675FCD5C-2E45-0610-8E04-6BC565CD9D90}"/>
                </a:ext>
              </a:extLst>
            </p:cNvPr>
            <p:cNvCxnSpPr>
              <a:cxnSpLocks/>
              <a:stCxn id="35" idx="2"/>
              <a:endCxn id="36" idx="0"/>
            </p:cNvCxnSpPr>
            <p:nvPr/>
          </p:nvCxnSpPr>
          <p:spPr>
            <a:xfrm rot="16200000" flipH="1">
              <a:off x="2161989" y="5063535"/>
              <a:ext cx="217848" cy="1593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eur : en angle 49">
              <a:extLst>
                <a:ext uri="{FF2B5EF4-FFF2-40B4-BE49-F238E27FC236}">
                  <a16:creationId xmlns:a16="http://schemas.microsoft.com/office/drawing/2014/main" id="{74BFF1B5-9ABE-9C51-7A28-41E2CB4002EA}"/>
                </a:ext>
              </a:extLst>
            </p:cNvPr>
            <p:cNvCxnSpPr>
              <a:cxnSpLocks/>
              <a:stCxn id="36" idx="1"/>
              <a:endCxn id="42" idx="0"/>
            </p:cNvCxnSpPr>
            <p:nvPr/>
          </p:nvCxnSpPr>
          <p:spPr>
            <a:xfrm rot="10800000" flipV="1">
              <a:off x="730462" y="5377353"/>
              <a:ext cx="200248" cy="536682"/>
            </a:xfrm>
            <a:prstGeom prst="bentConnector2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 : coins arrondis 71">
              <a:extLst>
                <a:ext uri="{FF2B5EF4-FFF2-40B4-BE49-F238E27FC236}">
                  <a16:creationId xmlns:a16="http://schemas.microsoft.com/office/drawing/2014/main" id="{1BDA9425-7537-66A2-0244-3B3C0667DF35}"/>
                </a:ext>
              </a:extLst>
            </p:cNvPr>
            <p:cNvSpPr/>
            <p:nvPr/>
          </p:nvSpPr>
          <p:spPr>
            <a:xfrm>
              <a:off x="8836215" y="4940369"/>
              <a:ext cx="3058227" cy="1493799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b="1" dirty="0">
                  <a:solidFill>
                    <a:schemeClr val="tx1"/>
                  </a:solidFill>
                </a:rPr>
                <a:t>6. Review Analysis</a:t>
              </a:r>
            </a:p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- </a:t>
              </a:r>
              <a:r>
                <a:rPr lang="en-CA" sz="1200" dirty="0" err="1">
                  <a:solidFill>
                    <a:schemeClr val="tx1"/>
                  </a:solidFill>
                </a:rPr>
                <a:t>repKBAPAs</a:t>
              </a:r>
              <a:r>
                <a:rPr lang="en-CA" sz="1200" dirty="0">
                  <a:solidFill>
                    <a:schemeClr val="tx1"/>
                  </a:solidFill>
                </a:rPr>
                <a:t>_*</a:t>
              </a:r>
            </a:p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- </a:t>
              </a:r>
              <a:r>
                <a:rPr lang="en-CA" sz="1200" dirty="0" err="1">
                  <a:solidFill>
                    <a:schemeClr val="tx1"/>
                  </a:solidFill>
                </a:rPr>
                <a:t>repKBAs</a:t>
              </a:r>
              <a:r>
                <a:rPr lang="en-CA" sz="1200" dirty="0">
                  <a:solidFill>
                    <a:schemeClr val="tx1"/>
                  </a:solidFill>
                </a:rPr>
                <a:t>_*</a:t>
              </a:r>
            </a:p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- </a:t>
              </a:r>
              <a:r>
                <a:rPr lang="en-CA" sz="1200" dirty="0" err="1">
                  <a:solidFill>
                    <a:schemeClr val="tx1"/>
                  </a:solidFill>
                </a:rPr>
                <a:t>repPAs</a:t>
              </a:r>
              <a:r>
                <a:rPr lang="en-CA" sz="1200" dirty="0">
                  <a:solidFill>
                    <a:schemeClr val="tx1"/>
                  </a:solidFill>
                </a:rPr>
                <a:t>_*</a:t>
              </a:r>
            </a:p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- </a:t>
              </a:r>
              <a:r>
                <a:rPr lang="en-CA" sz="1200" dirty="0" err="1">
                  <a:solidFill>
                    <a:schemeClr val="tx1"/>
                  </a:solidFill>
                </a:rPr>
                <a:t>netKBAs</a:t>
              </a:r>
              <a:r>
                <a:rPr lang="en-CA" sz="1200" dirty="0">
                  <a:solidFill>
                    <a:schemeClr val="tx1"/>
                  </a:solidFill>
                </a:rPr>
                <a:t>_*</a:t>
              </a:r>
            </a:p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- </a:t>
              </a:r>
              <a:r>
                <a:rPr lang="en-CA" sz="1200" dirty="0" err="1">
                  <a:solidFill>
                    <a:schemeClr val="tx1"/>
                  </a:solidFill>
                </a:rPr>
                <a:t>netPAs</a:t>
              </a:r>
              <a:r>
                <a:rPr lang="en-CA" sz="1200" dirty="0">
                  <a:solidFill>
                    <a:schemeClr val="tx1"/>
                  </a:solidFill>
                </a:rPr>
                <a:t>_*</a:t>
              </a:r>
            </a:p>
            <a:p>
              <a:pPr algn="ctr"/>
              <a:endParaRPr lang="en-CA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76" name="Connecteur : en angle 75">
              <a:extLst>
                <a:ext uri="{FF2B5EF4-FFF2-40B4-BE49-F238E27FC236}">
                  <a16:creationId xmlns:a16="http://schemas.microsoft.com/office/drawing/2014/main" id="{F4D68C0A-4B86-70BE-ACFE-E67BDCDF77F3}"/>
                </a:ext>
              </a:extLst>
            </p:cNvPr>
            <p:cNvCxnSpPr>
              <a:cxnSpLocks/>
              <a:stCxn id="42" idx="2"/>
              <a:endCxn id="39" idx="1"/>
            </p:cNvCxnSpPr>
            <p:nvPr/>
          </p:nvCxnSpPr>
          <p:spPr>
            <a:xfrm rot="16200000" flipH="1">
              <a:off x="1080183" y="5972506"/>
              <a:ext cx="865272" cy="1564715"/>
            </a:xfrm>
            <a:prstGeom prst="bentConnector2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DFED6B96-F5C1-D3EF-3544-A93B4833099E}"/>
                </a:ext>
              </a:extLst>
            </p:cNvPr>
            <p:cNvSpPr/>
            <p:nvPr/>
          </p:nvSpPr>
          <p:spPr>
            <a:xfrm>
              <a:off x="4179927" y="342748"/>
              <a:ext cx="1862785" cy="28792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Set project</a:t>
              </a:r>
            </a:p>
          </p:txBody>
        </p:sp>
        <p:sp>
          <p:nvSpPr>
            <p:cNvPr id="43" name="Rectangle : coins arrondis 42">
              <a:extLst>
                <a:ext uri="{FF2B5EF4-FFF2-40B4-BE49-F238E27FC236}">
                  <a16:creationId xmlns:a16="http://schemas.microsoft.com/office/drawing/2014/main" id="{1BAB781B-3946-E5C8-F1DF-23CCFAF55F3B}"/>
                </a:ext>
              </a:extLst>
            </p:cNvPr>
            <p:cNvSpPr/>
            <p:nvPr/>
          </p:nvSpPr>
          <p:spPr>
            <a:xfrm>
              <a:off x="3982405" y="2733487"/>
              <a:ext cx="3058227" cy="3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b="1" dirty="0">
                  <a:solidFill>
                    <a:schemeClr val="tx1"/>
                  </a:solidFill>
                </a:rPr>
                <a:t>2. OPTIONAL) -Add display elements</a:t>
              </a:r>
            </a:p>
          </p:txBody>
        </p:sp>
        <p:sp>
          <p:nvSpPr>
            <p:cNvPr id="23" name="Rectangle : coins arrondis 22">
              <a:extLst>
                <a:ext uri="{FF2B5EF4-FFF2-40B4-BE49-F238E27FC236}">
                  <a16:creationId xmlns:a16="http://schemas.microsoft.com/office/drawing/2014/main" id="{266A0D4C-DD94-0A60-3275-6FF594048C00}"/>
                </a:ext>
              </a:extLst>
            </p:cNvPr>
            <p:cNvSpPr/>
            <p:nvPr/>
          </p:nvSpPr>
          <p:spPr>
            <a:xfrm>
              <a:off x="8821466" y="1256752"/>
              <a:ext cx="2053789" cy="36051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Use an existing project</a:t>
              </a:r>
            </a:p>
          </p:txBody>
        </p:sp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48320496-6C58-1DCF-42D4-2EB7F54DA475}"/>
                </a:ext>
              </a:extLst>
            </p:cNvPr>
            <p:cNvSpPr/>
            <p:nvPr/>
          </p:nvSpPr>
          <p:spPr>
            <a:xfrm>
              <a:off x="1191882" y="985987"/>
              <a:ext cx="2186118" cy="94295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Create a new project</a:t>
              </a:r>
            </a:p>
            <a:p>
              <a:r>
                <a:rPr lang="en-CA" sz="1200" dirty="0">
                  <a:solidFill>
                    <a:schemeClr val="tx1"/>
                  </a:solidFill>
                </a:rPr>
                <a:t>Upload layers:</a:t>
              </a:r>
            </a:p>
            <a:p>
              <a:r>
                <a:rPr lang="en-CA" sz="1200" dirty="0">
                  <a:solidFill>
                    <a:schemeClr val="tx1"/>
                  </a:solidFill>
                </a:rPr>
                <a:t>- Use csv with file pathways</a:t>
              </a:r>
            </a:p>
            <a:p>
              <a:r>
                <a:rPr lang="en-CA" sz="1200" dirty="0">
                  <a:solidFill>
                    <a:schemeClr val="tx1"/>
                  </a:solidFill>
                </a:rPr>
                <a:t>- Upload individual layers</a:t>
              </a:r>
            </a:p>
          </p:txBody>
        </p:sp>
        <p:cxnSp>
          <p:nvCxnSpPr>
            <p:cNvPr id="25" name="Connecteur : en angle 24">
              <a:extLst>
                <a:ext uri="{FF2B5EF4-FFF2-40B4-BE49-F238E27FC236}">
                  <a16:creationId xmlns:a16="http://schemas.microsoft.com/office/drawing/2014/main" id="{16CCEAE2-2A10-AA4E-A887-EECDB033A372}"/>
                </a:ext>
              </a:extLst>
            </p:cNvPr>
            <p:cNvCxnSpPr>
              <a:cxnSpLocks/>
              <a:stCxn id="5" idx="2"/>
              <a:endCxn id="24" idx="0"/>
            </p:cNvCxnSpPr>
            <p:nvPr/>
          </p:nvCxnSpPr>
          <p:spPr>
            <a:xfrm rot="5400000">
              <a:off x="3520472" y="-604862"/>
              <a:ext cx="355319" cy="282637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 : en angle 26">
              <a:extLst>
                <a:ext uri="{FF2B5EF4-FFF2-40B4-BE49-F238E27FC236}">
                  <a16:creationId xmlns:a16="http://schemas.microsoft.com/office/drawing/2014/main" id="{B2767D04-CD4E-602E-1D28-ECFD32150231}"/>
                </a:ext>
              </a:extLst>
            </p:cNvPr>
            <p:cNvCxnSpPr>
              <a:cxnSpLocks/>
              <a:stCxn id="5" idx="2"/>
              <a:endCxn id="23" idx="0"/>
            </p:cNvCxnSpPr>
            <p:nvPr/>
          </p:nvCxnSpPr>
          <p:spPr>
            <a:xfrm rot="16200000" flipH="1">
              <a:off x="7166798" y="-1424811"/>
              <a:ext cx="626084" cy="473704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Rectangle : coins arrondis 60">
              <a:extLst>
                <a:ext uri="{FF2B5EF4-FFF2-40B4-BE49-F238E27FC236}">
                  <a16:creationId xmlns:a16="http://schemas.microsoft.com/office/drawing/2014/main" id="{8E886BF1-81FB-B212-416E-1B1ADA48E14C}"/>
                </a:ext>
              </a:extLst>
            </p:cNvPr>
            <p:cNvSpPr/>
            <p:nvPr/>
          </p:nvSpPr>
          <p:spPr>
            <a:xfrm>
              <a:off x="2522469" y="2070284"/>
              <a:ext cx="2577207" cy="468413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Set intactness attributes</a:t>
              </a:r>
            </a:p>
          </p:txBody>
        </p:sp>
        <p:cxnSp>
          <p:nvCxnSpPr>
            <p:cNvPr id="62" name="Connecteur : en angle 61">
              <a:extLst>
                <a:ext uri="{FF2B5EF4-FFF2-40B4-BE49-F238E27FC236}">
                  <a16:creationId xmlns:a16="http://schemas.microsoft.com/office/drawing/2014/main" id="{E0C7078C-25F5-915B-8521-4E513CC01998}"/>
                </a:ext>
              </a:extLst>
            </p:cNvPr>
            <p:cNvCxnSpPr>
              <a:cxnSpLocks/>
              <a:stCxn id="24" idx="2"/>
              <a:endCxn id="61" idx="1"/>
            </p:cNvCxnSpPr>
            <p:nvPr/>
          </p:nvCxnSpPr>
          <p:spPr>
            <a:xfrm rot="16200000" flipH="1">
              <a:off x="2215931" y="1997953"/>
              <a:ext cx="375548" cy="237528"/>
            </a:xfrm>
            <a:prstGeom prst="bentConnector2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eur : en angle 68">
              <a:extLst>
                <a:ext uri="{FF2B5EF4-FFF2-40B4-BE49-F238E27FC236}">
                  <a16:creationId xmlns:a16="http://schemas.microsoft.com/office/drawing/2014/main" id="{5C67DD8A-823D-1D95-4E9D-B902EE0165BF}"/>
                </a:ext>
              </a:extLst>
            </p:cNvPr>
            <p:cNvCxnSpPr>
              <a:cxnSpLocks/>
              <a:stCxn id="23" idx="2"/>
              <a:endCxn id="61" idx="3"/>
            </p:cNvCxnSpPr>
            <p:nvPr/>
          </p:nvCxnSpPr>
          <p:spPr>
            <a:xfrm rot="5400000">
              <a:off x="7130406" y="-413465"/>
              <a:ext cx="687227" cy="4748685"/>
            </a:xfrm>
            <a:prstGeom prst="bentConnector2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necteur : en angle 86">
              <a:extLst>
                <a:ext uri="{FF2B5EF4-FFF2-40B4-BE49-F238E27FC236}">
                  <a16:creationId xmlns:a16="http://schemas.microsoft.com/office/drawing/2014/main" id="{7D023D43-7815-3B4F-A1A3-5E784E1D32E3}"/>
                </a:ext>
              </a:extLst>
            </p:cNvPr>
            <p:cNvCxnSpPr>
              <a:cxnSpLocks/>
              <a:stCxn id="61" idx="2"/>
              <a:endCxn id="43" idx="0"/>
            </p:cNvCxnSpPr>
            <p:nvPr/>
          </p:nvCxnSpPr>
          <p:spPr>
            <a:xfrm rot="16200000" flipH="1">
              <a:off x="4563901" y="1785869"/>
              <a:ext cx="194790" cy="1700446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eur : en angle 94">
              <a:extLst>
                <a:ext uri="{FF2B5EF4-FFF2-40B4-BE49-F238E27FC236}">
                  <a16:creationId xmlns:a16="http://schemas.microsoft.com/office/drawing/2014/main" id="{AAD0F168-D763-16FD-A6F1-21C93D0599F6}"/>
                </a:ext>
              </a:extLst>
            </p:cNvPr>
            <p:cNvCxnSpPr>
              <a:cxnSpLocks/>
              <a:stCxn id="24" idx="1"/>
              <a:endCxn id="98" idx="0"/>
            </p:cNvCxnSpPr>
            <p:nvPr/>
          </p:nvCxnSpPr>
          <p:spPr>
            <a:xfrm rot="10800000" flipV="1">
              <a:off x="-381756" y="1457465"/>
              <a:ext cx="1573639" cy="1171246"/>
            </a:xfrm>
            <a:prstGeom prst="bentConnector2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Rectangle : coins arrondis 97">
              <a:extLst>
                <a:ext uri="{FF2B5EF4-FFF2-40B4-BE49-F238E27FC236}">
                  <a16:creationId xmlns:a16="http://schemas.microsoft.com/office/drawing/2014/main" id="{DB68B6B0-32B4-507A-40C3-3C00EBA4929F}"/>
                </a:ext>
              </a:extLst>
            </p:cNvPr>
            <p:cNvSpPr/>
            <p:nvPr/>
          </p:nvSpPr>
          <p:spPr>
            <a:xfrm>
              <a:off x="-1269915" y="2628711"/>
              <a:ext cx="1776315" cy="82211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CA" sz="1200" dirty="0">
                  <a:solidFill>
                    <a:schemeClr val="tx1"/>
                  </a:solidFill>
                </a:rPr>
                <a:t>PA hydrology metrics:</a:t>
              </a:r>
            </a:p>
            <a:p>
              <a:r>
                <a:rPr lang="en-CA" sz="1200" dirty="0">
                  <a:solidFill>
                    <a:schemeClr val="tx1"/>
                  </a:solidFill>
                </a:rPr>
                <a:t>- area </a:t>
              </a:r>
            </a:p>
            <a:p>
              <a:r>
                <a:rPr lang="en-CA" sz="1200" dirty="0">
                  <a:solidFill>
                    <a:schemeClr val="tx1"/>
                  </a:solidFill>
                </a:rPr>
                <a:t>- upstream AWI</a:t>
              </a:r>
            </a:p>
            <a:p>
              <a:r>
                <a:rPr lang="en-CA" sz="1200" dirty="0">
                  <a:solidFill>
                    <a:schemeClr val="tx1"/>
                  </a:solidFill>
                </a:rPr>
                <a:t>- DCI</a:t>
              </a:r>
            </a:p>
          </p:txBody>
        </p:sp>
        <p:sp>
          <p:nvSpPr>
            <p:cNvPr id="107" name="ZoneTexte 106">
              <a:extLst>
                <a:ext uri="{FF2B5EF4-FFF2-40B4-BE49-F238E27FC236}">
                  <a16:creationId xmlns:a16="http://schemas.microsoft.com/office/drawing/2014/main" id="{A826B67D-A4C4-CA93-A01D-840A9E5F1793}"/>
                </a:ext>
              </a:extLst>
            </p:cNvPr>
            <p:cNvSpPr txBox="1"/>
            <p:nvPr/>
          </p:nvSpPr>
          <p:spPr>
            <a:xfrm>
              <a:off x="121304" y="1186725"/>
              <a:ext cx="9800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if PAs</a:t>
              </a:r>
            </a:p>
          </p:txBody>
        </p:sp>
        <p:sp>
          <p:nvSpPr>
            <p:cNvPr id="253" name="Rectangle : coins arrondis 252">
              <a:extLst>
                <a:ext uri="{FF2B5EF4-FFF2-40B4-BE49-F238E27FC236}">
                  <a16:creationId xmlns:a16="http://schemas.microsoft.com/office/drawing/2014/main" id="{1AF4FD30-A680-1212-7481-DF4CC10B9CE0}"/>
                </a:ext>
              </a:extLst>
            </p:cNvPr>
            <p:cNvSpPr/>
            <p:nvPr/>
          </p:nvSpPr>
          <p:spPr>
            <a:xfrm>
              <a:off x="5458816" y="7910391"/>
              <a:ext cx="2427946" cy="756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200" b="1" dirty="0">
                  <a:solidFill>
                    <a:schemeClr val="tx1"/>
                  </a:solidFill>
                </a:rPr>
                <a:t>5. Create and Assess network</a:t>
              </a:r>
            </a:p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-</a:t>
              </a:r>
              <a:r>
                <a:rPr lang="en-CA" sz="1200" dirty="0" err="1">
                  <a:solidFill>
                    <a:schemeClr val="tx1"/>
                  </a:solidFill>
                </a:rPr>
                <a:t>netKBAs</a:t>
              </a:r>
              <a:r>
                <a:rPr lang="en-CA" sz="1200" dirty="0">
                  <a:solidFill>
                    <a:schemeClr val="tx1"/>
                  </a:solidFill>
                </a:rPr>
                <a:t>_*</a:t>
              </a:r>
            </a:p>
            <a:p>
              <a:pPr algn="ctr"/>
              <a:r>
                <a:rPr lang="en-CA" sz="1200" dirty="0">
                  <a:solidFill>
                    <a:schemeClr val="tx1"/>
                  </a:solidFill>
                </a:rPr>
                <a:t>-</a:t>
              </a:r>
              <a:r>
                <a:rPr lang="en-CA" sz="1200" dirty="0" err="1">
                  <a:solidFill>
                    <a:schemeClr val="tx1"/>
                  </a:solidFill>
                </a:rPr>
                <a:t>netPAs</a:t>
              </a:r>
              <a:r>
                <a:rPr lang="en-CA" sz="1200" dirty="0">
                  <a:solidFill>
                    <a:schemeClr val="tx1"/>
                  </a:solidFill>
                </a:rPr>
                <a:t>_*</a:t>
              </a:r>
            </a:p>
            <a:p>
              <a:pPr algn="ctr"/>
              <a:endParaRPr lang="en-CA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8" name="Connecteur : en angle 7">
              <a:extLst>
                <a:ext uri="{FF2B5EF4-FFF2-40B4-BE49-F238E27FC236}">
                  <a16:creationId xmlns:a16="http://schemas.microsoft.com/office/drawing/2014/main" id="{694383D9-5099-88A4-A266-C624FF8DF1F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3817410" y="3092170"/>
              <a:ext cx="1728000" cy="194792"/>
            </a:xfrm>
            <a:prstGeom prst="bentConnector3">
              <a:avLst>
                <a:gd name="adj1" fmla="val -1037"/>
              </a:avLst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 : en angle 44">
              <a:extLst>
                <a:ext uri="{FF2B5EF4-FFF2-40B4-BE49-F238E27FC236}">
                  <a16:creationId xmlns:a16="http://schemas.microsoft.com/office/drawing/2014/main" id="{2612130A-CE4A-05DE-6418-0C2A7040D365}"/>
                </a:ext>
              </a:extLst>
            </p:cNvPr>
            <p:cNvCxnSpPr>
              <a:cxnSpLocks/>
              <a:stCxn id="98" idx="2"/>
              <a:endCxn id="39" idx="1"/>
            </p:cNvCxnSpPr>
            <p:nvPr/>
          </p:nvCxnSpPr>
          <p:spPr>
            <a:xfrm rot="16200000" flipH="1">
              <a:off x="-911627" y="3980695"/>
              <a:ext cx="3736675" cy="2676934"/>
            </a:xfrm>
            <a:prstGeom prst="bentConnector2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necteur droit 63">
              <a:extLst>
                <a:ext uri="{FF2B5EF4-FFF2-40B4-BE49-F238E27FC236}">
                  <a16:creationId xmlns:a16="http://schemas.microsoft.com/office/drawing/2014/main" id="{7AFAD333-0BC3-8F95-5903-62A1238B107E}"/>
                </a:ext>
              </a:extLst>
            </p:cNvPr>
            <p:cNvCxnSpPr>
              <a:stCxn id="61" idx="2"/>
            </p:cNvCxnSpPr>
            <p:nvPr/>
          </p:nvCxnSpPr>
          <p:spPr>
            <a:xfrm flipH="1">
              <a:off x="3811072" y="2538697"/>
              <a:ext cx="1" cy="960253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necteur droit 65">
              <a:extLst>
                <a:ext uri="{FF2B5EF4-FFF2-40B4-BE49-F238E27FC236}">
                  <a16:creationId xmlns:a16="http://schemas.microsoft.com/office/drawing/2014/main" id="{B78A659A-259C-682B-0073-D60E06CD14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9566" y="3464445"/>
              <a:ext cx="3463664" cy="3883"/>
            </a:xfrm>
            <a:prstGeom prst="line">
              <a:avLst/>
            </a:prstGeom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eur droit avec flèche 105">
              <a:extLst>
                <a:ext uri="{FF2B5EF4-FFF2-40B4-BE49-F238E27FC236}">
                  <a16:creationId xmlns:a16="http://schemas.microsoft.com/office/drawing/2014/main" id="{061B936A-515F-01C3-4EFB-CFD23F2607A0}"/>
                </a:ext>
              </a:extLst>
            </p:cNvPr>
            <p:cNvCxnSpPr>
              <a:cxnSpLocks/>
            </p:cNvCxnSpPr>
            <p:nvPr/>
          </p:nvCxnSpPr>
          <p:spPr>
            <a:xfrm>
              <a:off x="10152511" y="1617264"/>
              <a:ext cx="43637" cy="3296223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cteur droit avec flèche 109">
              <a:extLst>
                <a:ext uri="{FF2B5EF4-FFF2-40B4-BE49-F238E27FC236}">
                  <a16:creationId xmlns:a16="http://schemas.microsoft.com/office/drawing/2014/main" id="{70BB0AD0-1716-719E-BC79-F49120107770}"/>
                </a:ext>
              </a:extLst>
            </p:cNvPr>
            <p:cNvCxnSpPr>
              <a:cxnSpLocks/>
            </p:cNvCxnSpPr>
            <p:nvPr/>
          </p:nvCxnSpPr>
          <p:spPr>
            <a:xfrm>
              <a:off x="5687087" y="3464444"/>
              <a:ext cx="88682" cy="4424856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ZoneTexte 113">
              <a:extLst>
                <a:ext uri="{FF2B5EF4-FFF2-40B4-BE49-F238E27FC236}">
                  <a16:creationId xmlns:a16="http://schemas.microsoft.com/office/drawing/2014/main" id="{60C06A79-7F93-631F-A1ED-05A734D09B90}"/>
                </a:ext>
              </a:extLst>
            </p:cNvPr>
            <p:cNvSpPr txBox="1"/>
            <p:nvPr/>
          </p:nvSpPr>
          <p:spPr>
            <a:xfrm>
              <a:off x="-1852845" y="688785"/>
              <a:ext cx="192887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b="1" dirty="0"/>
                <a:t>FULL WORKFLOW</a:t>
              </a:r>
              <a:endParaRPr lang="en-CA" b="1" dirty="0"/>
            </a:p>
          </p:txBody>
        </p:sp>
        <p:cxnSp>
          <p:nvCxnSpPr>
            <p:cNvPr id="116" name="Connecteur droit avec flèche 115">
              <a:extLst>
                <a:ext uri="{FF2B5EF4-FFF2-40B4-BE49-F238E27FC236}">
                  <a16:creationId xmlns:a16="http://schemas.microsoft.com/office/drawing/2014/main" id="{5302FA59-BE72-A263-0827-F70FADEBF2DA}"/>
                </a:ext>
              </a:extLst>
            </p:cNvPr>
            <p:cNvCxnSpPr>
              <a:cxnSpLocks/>
            </p:cNvCxnSpPr>
            <p:nvPr/>
          </p:nvCxnSpPr>
          <p:spPr>
            <a:xfrm>
              <a:off x="2261650" y="3479813"/>
              <a:ext cx="0" cy="253858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7" name="Rectangle : coins arrondis 126">
              <a:extLst>
                <a:ext uri="{FF2B5EF4-FFF2-40B4-BE49-F238E27FC236}">
                  <a16:creationId xmlns:a16="http://schemas.microsoft.com/office/drawing/2014/main" id="{97829279-A5C5-D44B-08FF-2F97DBA76E36}"/>
                </a:ext>
              </a:extLst>
            </p:cNvPr>
            <p:cNvSpPr/>
            <p:nvPr/>
          </p:nvSpPr>
          <p:spPr>
            <a:xfrm>
              <a:off x="2119356" y="11247242"/>
              <a:ext cx="5960640" cy="36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CA" sz="1200" b="1" dirty="0">
                  <a:solidFill>
                    <a:schemeClr val="tx1"/>
                  </a:solidFill>
                </a:rPr>
                <a:t>Convert as Shapefile</a:t>
              </a:r>
            </a:p>
            <a:p>
              <a:pPr algn="ctr"/>
              <a:endParaRPr lang="en-CA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39" name="Connecteur droit avec flèche 138">
              <a:extLst>
                <a:ext uri="{FF2B5EF4-FFF2-40B4-BE49-F238E27FC236}">
                  <a16:creationId xmlns:a16="http://schemas.microsoft.com/office/drawing/2014/main" id="{38C7DB71-6938-AD9E-8382-956884520898}"/>
                </a:ext>
              </a:extLst>
            </p:cNvPr>
            <p:cNvCxnSpPr>
              <a:cxnSpLocks/>
            </p:cNvCxnSpPr>
            <p:nvPr/>
          </p:nvCxnSpPr>
          <p:spPr>
            <a:xfrm>
              <a:off x="4091245" y="3473683"/>
              <a:ext cx="54886" cy="3156768"/>
            </a:xfrm>
            <a:prstGeom prst="straightConnector1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eur : en angle 140">
              <a:extLst>
                <a:ext uri="{FF2B5EF4-FFF2-40B4-BE49-F238E27FC236}">
                  <a16:creationId xmlns:a16="http://schemas.microsoft.com/office/drawing/2014/main" id="{00B2DFE5-9BE9-1031-AF0F-57CB98416499}"/>
                </a:ext>
              </a:extLst>
            </p:cNvPr>
            <p:cNvCxnSpPr>
              <a:cxnSpLocks/>
            </p:cNvCxnSpPr>
            <p:nvPr/>
          </p:nvCxnSpPr>
          <p:spPr>
            <a:xfrm>
              <a:off x="-888410" y="3436244"/>
              <a:ext cx="6347226" cy="4868189"/>
            </a:xfrm>
            <a:prstGeom prst="bentConnector3">
              <a:avLst>
                <a:gd name="adj1" fmla="val -296"/>
              </a:avLst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eur : en angle 146">
              <a:extLst>
                <a:ext uri="{FF2B5EF4-FFF2-40B4-BE49-F238E27FC236}">
                  <a16:creationId xmlns:a16="http://schemas.microsoft.com/office/drawing/2014/main" id="{167464EA-5FB4-9880-52BA-1CBE98923258}"/>
                </a:ext>
              </a:extLst>
            </p:cNvPr>
            <p:cNvCxnSpPr>
              <a:cxnSpLocks/>
              <a:stCxn id="39" idx="2"/>
              <a:endCxn id="253" idx="1"/>
            </p:cNvCxnSpPr>
            <p:nvPr/>
          </p:nvCxnSpPr>
          <p:spPr>
            <a:xfrm rot="16200000" flipH="1">
              <a:off x="4345848" y="7175423"/>
              <a:ext cx="560136" cy="1665800"/>
            </a:xfrm>
            <a:prstGeom prst="bentConnector2">
              <a:avLst/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Flèche : bas 152">
              <a:extLst>
                <a:ext uri="{FF2B5EF4-FFF2-40B4-BE49-F238E27FC236}">
                  <a16:creationId xmlns:a16="http://schemas.microsoft.com/office/drawing/2014/main" id="{D2AFC1BF-9226-9BEE-6212-092E5C81B560}"/>
                </a:ext>
              </a:extLst>
            </p:cNvPr>
            <p:cNvSpPr/>
            <p:nvPr/>
          </p:nvSpPr>
          <p:spPr>
            <a:xfrm>
              <a:off x="2839453" y="9327610"/>
              <a:ext cx="1142952" cy="602817"/>
            </a:xfrm>
            <a:prstGeom prst="downArrow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4" name="ZoneTexte 153">
              <a:extLst>
                <a:ext uri="{FF2B5EF4-FFF2-40B4-BE49-F238E27FC236}">
                  <a16:creationId xmlns:a16="http://schemas.microsoft.com/office/drawing/2014/main" id="{0A9D6B2D-9509-D0E1-BBE2-C119B3F0FE64}"/>
                </a:ext>
              </a:extLst>
            </p:cNvPr>
            <p:cNvSpPr txBox="1"/>
            <p:nvPr/>
          </p:nvSpPr>
          <p:spPr>
            <a:xfrm>
              <a:off x="4082948" y="9352065"/>
              <a:ext cx="2589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CA" dirty="0"/>
                <a:t>Write </a:t>
              </a:r>
              <a:r>
                <a:rPr lang="fr-CA" dirty="0" err="1"/>
                <a:t>layers</a:t>
              </a:r>
              <a:endParaRPr lang="en-CA" dirty="0"/>
            </a:p>
          </p:txBody>
        </p:sp>
        <p:sp>
          <p:nvSpPr>
            <p:cNvPr id="155" name="Cylindre 154">
              <a:extLst>
                <a:ext uri="{FF2B5EF4-FFF2-40B4-BE49-F238E27FC236}">
                  <a16:creationId xmlns:a16="http://schemas.microsoft.com/office/drawing/2014/main" id="{4FEEBBEE-DAAD-C268-9775-0C439CD9F772}"/>
                </a:ext>
              </a:extLst>
            </p:cNvPr>
            <p:cNvSpPr/>
            <p:nvPr/>
          </p:nvSpPr>
          <p:spPr>
            <a:xfrm>
              <a:off x="1449479" y="10011326"/>
              <a:ext cx="3953669" cy="817650"/>
            </a:xfrm>
            <a:prstGeom prst="can">
              <a:avLst/>
            </a:prstGeom>
            <a:solidFill>
              <a:schemeClr val="bg1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CA" b="1" dirty="0">
                  <a:solidFill>
                    <a:schemeClr val="accent2">
                      <a:lumMod val="50000"/>
                    </a:schemeClr>
                  </a:solidFill>
                </a:rPr>
                <a:t>output/</a:t>
              </a:r>
              <a:r>
                <a:rPr lang="fr-CA" b="1" dirty="0" err="1">
                  <a:solidFill>
                    <a:schemeClr val="accent2">
                      <a:lumMod val="50000"/>
                    </a:schemeClr>
                  </a:solidFill>
                </a:rPr>
                <a:t>KBAs_analysis.gpkg</a:t>
              </a:r>
              <a:endParaRPr lang="en-CA" b="1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cxnSp>
          <p:nvCxnSpPr>
            <p:cNvPr id="156" name="Connecteur : en angle 155">
              <a:extLst>
                <a:ext uri="{FF2B5EF4-FFF2-40B4-BE49-F238E27FC236}">
                  <a16:creationId xmlns:a16="http://schemas.microsoft.com/office/drawing/2014/main" id="{1BCE9E5F-8CD3-3697-EC86-287D7368FCB4}"/>
                </a:ext>
              </a:extLst>
            </p:cNvPr>
            <p:cNvCxnSpPr>
              <a:cxnSpLocks/>
              <a:stCxn id="155" idx="3"/>
              <a:endCxn id="127" idx="0"/>
            </p:cNvCxnSpPr>
            <p:nvPr/>
          </p:nvCxnSpPr>
          <p:spPr>
            <a:xfrm rot="16200000" flipH="1">
              <a:off x="4053862" y="10201428"/>
              <a:ext cx="418266" cy="167336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 : en angle 159">
              <a:extLst>
                <a:ext uri="{FF2B5EF4-FFF2-40B4-BE49-F238E27FC236}">
                  <a16:creationId xmlns:a16="http://schemas.microsoft.com/office/drawing/2014/main" id="{60358850-BBF9-0489-2B33-91AF07630C08}"/>
                </a:ext>
              </a:extLst>
            </p:cNvPr>
            <p:cNvCxnSpPr>
              <a:cxnSpLocks/>
              <a:stCxn id="72" idx="2"/>
              <a:endCxn id="127" idx="0"/>
            </p:cNvCxnSpPr>
            <p:nvPr/>
          </p:nvCxnSpPr>
          <p:spPr>
            <a:xfrm rot="5400000">
              <a:off x="5325966" y="6207879"/>
              <a:ext cx="4813074" cy="5265653"/>
            </a:xfrm>
            <a:prstGeom prst="bentConnector3">
              <a:avLst>
                <a:gd name="adj1" fmla="val 95329"/>
              </a:avLst>
            </a:prstGeom>
            <a:ln>
              <a:solidFill>
                <a:schemeClr val="accent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30790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81917</TotalTime>
  <Words>161</Words>
  <Application>Microsoft Office PowerPoint</Application>
  <PresentationFormat>Grand écran</PresentationFormat>
  <Paragraphs>39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Mélina Houle</dc:creator>
  <cp:lastModifiedBy>Mélina Houle</cp:lastModifiedBy>
  <cp:revision>16</cp:revision>
  <dcterms:created xsi:type="dcterms:W3CDTF">2025-04-11T17:00:34Z</dcterms:created>
  <dcterms:modified xsi:type="dcterms:W3CDTF">2026-10-06T18:44:25Z</dcterms:modified>
</cp:coreProperties>
</file>